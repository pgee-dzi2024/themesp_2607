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4098" autoAdjust="0"/>
  </p:normalViewPr>
  <p:slideViewPr>
    <p:cSldViewPr snapToGrid="0">
      <p:cViewPr>
        <p:scale>
          <a:sx n="51" d="100"/>
          <a:sy n="51" d="100"/>
        </p:scale>
        <p:origin x="28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9E4611-7BA2-4738-94C6-98FE40ED41FA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411EA6-982B-47BF-89C8-7B0CF804A74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850613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800" dirty="0" smtClean="0"/>
              <a:t>:</a:t>
            </a:r>
            <a:r>
              <a:rPr lang="ru-RU" sz="5400" b="0" dirty="0" smtClean="0"/>
              <a:t>Уважаема г-жо Директор,</a:t>
            </a:r>
          </a:p>
          <a:p>
            <a:r>
              <a:rPr lang="ru-RU" sz="5400" b="0" dirty="0" smtClean="0"/>
              <a:t>Уважаема комисия,</a:t>
            </a:r>
          </a:p>
          <a:p>
            <a:r>
              <a:rPr lang="ru-RU" sz="5400" b="0" dirty="0" smtClean="0"/>
              <a:t>Казвам се Фериз Ходжа и ще ви представя моя дипломен проект на тема:</a:t>
            </a:r>
          </a:p>
          <a:p>
            <a:r>
              <a:rPr lang="ru-RU" sz="5400" b="0" dirty="0" smtClean="0"/>
              <a:t>Wake on lan сървър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336928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„В днешно време компютърните мрежи са основна част от работата на всяка организация. Често се налага управление на множество компютри, което изисква време и физическо присъствие. Именно затова възниква нуждата от решения за дистанционно управление. Моят проект е насочен към автоматизиране на този процес, като позволява включване на компютри от разстояние. 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249790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„Основната цел на дипломния проект е да се разработи уеб-базирана система за дистанционно включване на компютри чрез технологията Wake-on-LAN. Системата позволява централизирано управление и улеснява администраторите. Чрез изпращане на  Magic Packet, компютрите могат да бъдат включени без физически достъп до тях.“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529368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„За реализирането на проекта бяха изпълнени няколко основни задачи. Първо направих анализ на технологиите и принципите на работа на Wake-on-LAN. След това избрах подходящи инструменти за разработка. Проектирах базата данни, разработих backend и frontend частта, и накрая тествах системата, за да се уверя, че работи надеждно.“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245032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„Проектът се базира на основни знания за компютърни мрежи. Използват се моделите OSI и TCP/IP, които описват комуникацията между устройствата. Важна роля играе UDP протоколът, защото позволява бързо изпращане на данни без установяване на връзка. Това го прави подходящ за изпращане на WOL пакети.“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539586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„Системата е изградена на базата на клиент-сървър архитектура. </a:t>
            </a:r>
            <a:r>
              <a:rPr lang="en-US" dirty="0" smtClean="0"/>
              <a:t>Backend </a:t>
            </a:r>
            <a:r>
              <a:rPr lang="bg-BG" dirty="0" smtClean="0"/>
              <a:t>частта обработва заявките и управлява логиката, а </a:t>
            </a:r>
            <a:r>
              <a:rPr lang="en-US" dirty="0" smtClean="0"/>
              <a:t>frontend </a:t>
            </a:r>
            <a:r>
              <a:rPr lang="bg-BG" dirty="0" smtClean="0"/>
              <a:t>частта осигурява потребителския интерфейс. Комуникацията между тях се осъществява чрез </a:t>
            </a:r>
            <a:r>
              <a:rPr lang="en-US" dirty="0" smtClean="0"/>
              <a:t>REST API </a:t>
            </a:r>
            <a:r>
              <a:rPr lang="bg-BG" dirty="0" smtClean="0"/>
              <a:t>и </a:t>
            </a:r>
            <a:r>
              <a:rPr lang="en-US" dirty="0" smtClean="0"/>
              <a:t>JSON </a:t>
            </a:r>
            <a:r>
              <a:rPr lang="bg-BG" dirty="0" smtClean="0"/>
              <a:t>формат. Това позволява лесна поддръжка и разширяване.“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309902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„За разработката използвах </a:t>
            </a:r>
            <a:r>
              <a:rPr lang="en-US" dirty="0" smtClean="0"/>
              <a:t>Python </a:t>
            </a:r>
            <a:r>
              <a:rPr lang="bg-BG" dirty="0" smtClean="0"/>
              <a:t>и </a:t>
            </a:r>
            <a:r>
              <a:rPr lang="en-US" dirty="0" smtClean="0"/>
              <a:t>Django </a:t>
            </a:r>
            <a:r>
              <a:rPr lang="bg-BG" dirty="0" smtClean="0"/>
              <a:t>за </a:t>
            </a:r>
            <a:r>
              <a:rPr lang="en-US" dirty="0" smtClean="0"/>
              <a:t>backend </a:t>
            </a:r>
            <a:r>
              <a:rPr lang="bg-BG" dirty="0" smtClean="0"/>
              <a:t>частта, като добавих </a:t>
            </a:r>
            <a:r>
              <a:rPr lang="en-US" dirty="0" smtClean="0"/>
              <a:t>Django REST Framework </a:t>
            </a:r>
            <a:r>
              <a:rPr lang="bg-BG" dirty="0" smtClean="0"/>
              <a:t>за създаване на </a:t>
            </a:r>
            <a:r>
              <a:rPr lang="en-US" dirty="0" smtClean="0"/>
              <a:t>API. </a:t>
            </a:r>
            <a:r>
              <a:rPr lang="bg-BG" dirty="0" smtClean="0"/>
              <a:t>За </a:t>
            </a:r>
            <a:r>
              <a:rPr lang="en-US" dirty="0" smtClean="0"/>
              <a:t>frontend </a:t>
            </a:r>
            <a:r>
              <a:rPr lang="bg-BG" dirty="0" smtClean="0"/>
              <a:t>използвах </a:t>
            </a:r>
            <a:r>
              <a:rPr lang="en-US" dirty="0" smtClean="0"/>
              <a:t>Vue.js </a:t>
            </a:r>
            <a:r>
              <a:rPr lang="bg-BG" dirty="0" smtClean="0"/>
              <a:t>и </a:t>
            </a:r>
            <a:r>
              <a:rPr lang="en-US" dirty="0" smtClean="0"/>
              <a:t>Bootstrap, </a:t>
            </a:r>
            <a:r>
              <a:rPr lang="bg-BG" dirty="0" smtClean="0"/>
              <a:t>което позволява създаване на модерен и удобен интерфейс. За база данни използвах </a:t>
            </a:r>
            <a:r>
              <a:rPr lang="en-US" dirty="0" err="1" smtClean="0"/>
              <a:t>MariaDB</a:t>
            </a:r>
            <a:r>
              <a:rPr lang="en-US" dirty="0" smtClean="0"/>
              <a:t>, </a:t>
            </a:r>
            <a:r>
              <a:rPr lang="bg-BG" dirty="0" smtClean="0"/>
              <a:t>която е надеждна и широко използвана.“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61542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„Системата позволява добавяне, редактиране и изтриване на компютри. Потребителят може да изпраща WOL команди и да включва устройства дистанционно. Освен това се поддържа лог на всички действия. Интерфейсът е реализиран като Single Page Application, което го прави бърз и удобен за използване.“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170486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„В заключение, проектът успешно реализира поставената цел. Системата работи стабилно и има реално приложение. В бъдеще може да бъде разширена с функции като автоматично включване по график, въвеждане на потребителски роли и поддръжка на Wake-on-WAN. Това я прави добра основа за по-нататъшно развитие.“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502363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2166364"/>
            <a:ext cx="11471565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15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96250"/>
            <a:ext cx="9144000" cy="130925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88908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32823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191" y="2208879"/>
            <a:ext cx="10515600" cy="16764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6000" b="0" spc="150" baseline="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3191" y="4010334"/>
            <a:ext cx="10515600" cy="117463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CAA85D-A80E-45D6-AD8D-1520FADD59B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24786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05344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391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420576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7008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7008" y="2656566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1230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1230" y="2656564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03046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321720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015950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7008" y="2120054"/>
            <a:ext cx="6126480" cy="4114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89023" y="2147486"/>
            <a:ext cx="320040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592634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0160" y="2211494"/>
            <a:ext cx="6126480" cy="393192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90688" y="2150621"/>
            <a:ext cx="320040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5377152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958965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019312" y="0"/>
            <a:ext cx="2743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0624" y="274638"/>
            <a:ext cx="2402380" cy="589756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274638"/>
            <a:ext cx="7973291" cy="5897562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422854"/>
            <a:ext cx="2743196" cy="365125"/>
          </a:xfrm>
        </p:spPr>
        <p:txBody>
          <a:bodyPr/>
          <a:lstStyle/>
          <a:p>
            <a:fld id="{1FCAA85D-A80E-45D6-AD8D-1520FADD59B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776135" y="6422854"/>
            <a:ext cx="4279669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3048" y="6422854"/>
            <a:ext cx="879759" cy="365125"/>
          </a:xfrm>
        </p:spPr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67673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2919" y="2011680"/>
            <a:ext cx="978408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02266" y="6422854"/>
            <a:ext cx="3000894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1FCAA85D-A80E-45D6-AD8D-1520FADD59B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96471" y="6422854"/>
            <a:ext cx="50444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8927" y="6422854"/>
            <a:ext cx="946264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</a:defRPr>
            </a:lvl1pPr>
          </a:lstStyle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899775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94891" y="1468082"/>
            <a:ext cx="8439913" cy="537190"/>
          </a:xfrm>
        </p:spPr>
        <p:txBody>
          <a:bodyPr>
            <a:noAutofit/>
          </a:bodyPr>
          <a:lstStyle/>
          <a:p>
            <a:r>
              <a:rPr lang="bg-BG" sz="4000" dirty="0" smtClean="0">
                <a:solidFill>
                  <a:schemeClr val="tx2"/>
                </a:solidFill>
                <a:latin typeface="Bookman Old Style" panose="020506040505050202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Тема</a:t>
            </a:r>
            <a:r>
              <a:rPr lang="en-US" sz="3600" dirty="0" smtClean="0">
                <a:solidFill>
                  <a:schemeClr val="tx2"/>
                </a:solidFill>
                <a:latin typeface="Bookman Old Style" panose="020506040505050202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:Wake</a:t>
            </a:r>
            <a:r>
              <a:rPr lang="en-US" sz="4000" dirty="0" smtClean="0">
                <a:solidFill>
                  <a:schemeClr val="tx2"/>
                </a:solidFill>
                <a:latin typeface="Bookman Old Style" panose="020506040505050202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 on Lan</a:t>
            </a:r>
            <a:r>
              <a:rPr lang="bg-BG" sz="4000" dirty="0" smtClean="0">
                <a:solidFill>
                  <a:schemeClr val="tx2"/>
                </a:solidFill>
                <a:latin typeface="Bookman Old Style" panose="020506040505050202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 сървър</a:t>
            </a:r>
            <a:endParaRPr lang="bg-BG" sz="4000" dirty="0">
              <a:solidFill>
                <a:schemeClr val="tx2"/>
              </a:solidFill>
              <a:latin typeface="Bookman Old Style" panose="02050604050505020204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7623985" y="6337692"/>
            <a:ext cx="3910819" cy="520308"/>
          </a:xfrm>
        </p:spPr>
        <p:txBody>
          <a:bodyPr>
            <a:normAutofit/>
          </a:bodyPr>
          <a:lstStyle/>
          <a:p>
            <a:r>
              <a:rPr lang="bg-BG" dirty="0" smtClean="0">
                <a:latin typeface="Bookman Old Style" panose="02050604050505020204" pitchFamily="18" charset="0"/>
              </a:rPr>
              <a:t>Дипломант</a:t>
            </a:r>
            <a:r>
              <a:rPr lang="en-US" dirty="0" smtClean="0">
                <a:latin typeface="Bookman Old Style" panose="02050604050505020204" pitchFamily="18" charset="0"/>
              </a:rPr>
              <a:t>: </a:t>
            </a:r>
            <a:r>
              <a:rPr lang="bg-BG" dirty="0" smtClean="0">
                <a:latin typeface="Bookman Old Style" panose="02050604050505020204" pitchFamily="18" charset="0"/>
              </a:rPr>
              <a:t>Фериз Ходжа</a:t>
            </a:r>
            <a:endParaRPr lang="bg-BG" dirty="0">
              <a:latin typeface="Bookman Old Style" panose="020506040505050202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/>
          <a:srcRect l="290" t="23313" r="-290" b="-26583"/>
          <a:stretch/>
        </p:blipFill>
        <p:spPr>
          <a:xfrm>
            <a:off x="308785" y="2600511"/>
            <a:ext cx="7315200" cy="536944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8785" y="175582"/>
            <a:ext cx="801332" cy="93576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110117" y="175582"/>
            <a:ext cx="717575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i="1" dirty="0">
                <a:latin typeface="Sitka Display" pitchFamily="2" charset="0"/>
              </a:rPr>
              <a:t>ДЪРЖАВЕН ИЗПИТ ЗА ПРИДОБИВАНЕ НА ТРЕТА СТЕПЕН НА ПРОФЕСИОНАЛНА КВАЛИФИКАЦИЯ – ЧАСТ ПО ТЕОРИЯ НА ПРОФЕСИЯТА</a:t>
            </a:r>
            <a:endParaRPr lang="bg-BG" b="1" i="1" dirty="0">
              <a:latin typeface="Sitka Display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5261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91092" y="-1155130"/>
            <a:ext cx="4262811" cy="4601183"/>
          </a:xfrm>
        </p:spPr>
        <p:txBody>
          <a:bodyPr/>
          <a:lstStyle/>
          <a:p>
            <a:r>
              <a:rPr lang="bg-BG" sz="3600" dirty="0" smtClean="0">
                <a:latin typeface="Bookman Old Style" panose="02050604050505020204" pitchFamily="18" charset="0"/>
              </a:rPr>
              <a:t>Актуалност</a:t>
            </a:r>
            <a:endParaRPr lang="bg-BG" sz="3600" dirty="0">
              <a:latin typeface="Bookman Old Style" panose="02050604050505020204" pitchFamily="18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072022" y="1926957"/>
            <a:ext cx="5584347" cy="42068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/>
          <p:cNvSpPr txBox="1"/>
          <p:nvPr/>
        </p:nvSpPr>
        <p:spPr>
          <a:xfrm>
            <a:off x="168812" y="3245564"/>
            <a:ext cx="57536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 smtClean="0"/>
              <a:t>Управлението </a:t>
            </a:r>
            <a:r>
              <a:rPr lang="ru-RU" sz="2400" b="1" dirty="0"/>
              <a:t>на множество </a:t>
            </a:r>
            <a:r>
              <a:rPr lang="ru-RU" sz="2400" b="1" dirty="0" smtClean="0"/>
              <a:t>компютри: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b="1" dirty="0" smtClean="0"/>
              <a:t> </a:t>
            </a:r>
            <a:r>
              <a:rPr lang="ru-RU" sz="2400" b="1" dirty="0"/>
              <a:t>изисква време и физическо присъствие</a:t>
            </a:r>
            <a:endParaRPr lang="bg-BG" sz="2400" b="1" dirty="0"/>
          </a:p>
        </p:txBody>
      </p:sp>
    </p:spTree>
    <p:extLst>
      <p:ext uri="{BB962C8B-B14F-4D97-AF65-F5344CB8AC3E}">
        <p14:creationId xmlns:p14="http://schemas.microsoft.com/office/powerpoint/2010/main" val="206655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39848" y="-1098860"/>
            <a:ext cx="6077542" cy="4601183"/>
          </a:xfrm>
        </p:spPr>
        <p:txBody>
          <a:bodyPr/>
          <a:lstStyle/>
          <a:p>
            <a:pPr algn="ctr"/>
            <a:r>
              <a:rPr lang="bg-BG" dirty="0" smtClean="0">
                <a:latin typeface="Bookman Old Style" panose="02050604050505020204" pitchFamily="18" charset="0"/>
              </a:rPr>
              <a:t>Цел на </a:t>
            </a:r>
            <a:r>
              <a:rPr lang="bg-BG" sz="3600" dirty="0" smtClean="0">
                <a:latin typeface="Bookman Old Style" panose="02050604050505020204" pitchFamily="18" charset="0"/>
              </a:rPr>
              <a:t>проекта</a:t>
            </a:r>
            <a:endParaRPr lang="bg-BG" sz="3600" dirty="0">
              <a:latin typeface="Bookman Old Style" panose="02050604050505020204" pitchFamily="18" charset="0"/>
            </a:endParaRP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190881" y="2039498"/>
            <a:ext cx="6310312" cy="42068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extBox 5"/>
          <p:cNvSpPr txBox="1"/>
          <p:nvPr/>
        </p:nvSpPr>
        <p:spPr>
          <a:xfrm>
            <a:off x="745389" y="2619441"/>
            <a:ext cx="331997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b="1" dirty="0"/>
              <a:t>Д</a:t>
            </a:r>
            <a:r>
              <a:rPr lang="ru-RU" sz="2400" b="1" dirty="0" smtClean="0"/>
              <a:t>а </a:t>
            </a:r>
            <a:r>
              <a:rPr lang="ru-RU" sz="2400" b="1" dirty="0"/>
              <a:t>се разработи уеб-базирана система за дистанционно включване на компютри чрез технологията Wake-on-LAN</a:t>
            </a:r>
            <a:r>
              <a:rPr lang="ru-RU" dirty="0"/>
              <a:t>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792019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sz="3600" dirty="0" smtClean="0">
                <a:latin typeface="Bookman Old Style" panose="02050604050505020204" pitchFamily="18" charset="0"/>
              </a:rPr>
              <a:t>Основни</a:t>
            </a:r>
            <a:r>
              <a:rPr lang="bg-BG" dirty="0" smtClean="0">
                <a:latin typeface="Bookman Old Style" panose="02050604050505020204" pitchFamily="18" charset="0"/>
              </a:rPr>
              <a:t> задачи</a:t>
            </a:r>
            <a:endParaRPr lang="bg-BG" dirty="0">
              <a:latin typeface="Bookman Old Style" panose="020506040505050202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57402" y="2887231"/>
            <a:ext cx="427657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/>
              <a:t>анализ на технологиите и принципите на работа на </a:t>
            </a:r>
            <a:r>
              <a:rPr lang="ru-RU" sz="2000" b="1" dirty="0" smtClean="0"/>
              <a:t>Wake-on-LAN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 smtClean="0"/>
              <a:t>подходящи </a:t>
            </a:r>
            <a:r>
              <a:rPr lang="ru-RU" sz="2000" b="1" dirty="0"/>
              <a:t>инструменти за </a:t>
            </a:r>
            <a:r>
              <a:rPr lang="ru-RU" sz="2000" b="1" dirty="0" smtClean="0"/>
              <a:t>   разработка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б</a:t>
            </a:r>
            <a:r>
              <a:rPr lang="ru-RU" sz="2000" b="1" dirty="0" smtClean="0"/>
              <a:t>аза данни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backend </a:t>
            </a:r>
            <a:r>
              <a:rPr lang="ru-RU" sz="2000" b="1" dirty="0"/>
              <a:t>и </a:t>
            </a:r>
            <a:r>
              <a:rPr lang="en-US" sz="2000" b="1" dirty="0"/>
              <a:t>frontend </a:t>
            </a:r>
            <a:endParaRPr lang="ru-RU" sz="2000" b="1" dirty="0" smtClean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000" b="1" dirty="0" smtClean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bg-BG" sz="2000" b="1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81256" y="2214955"/>
            <a:ext cx="6310312" cy="42068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9718771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1969" y="320702"/>
            <a:ext cx="9784080" cy="1508760"/>
          </a:xfrm>
        </p:spPr>
        <p:txBody>
          <a:bodyPr/>
          <a:lstStyle/>
          <a:p>
            <a:pPr algn="ctr"/>
            <a:r>
              <a:rPr lang="bg-BG" sz="3600" dirty="0" smtClean="0">
                <a:latin typeface="Bookman Old Style" panose="02050604050505020204" pitchFamily="18" charset="0"/>
              </a:rPr>
              <a:t>Теоретична</a:t>
            </a:r>
            <a:r>
              <a:rPr lang="bg-BG" dirty="0" smtClean="0">
                <a:latin typeface="Bookman Old Style" panose="02050604050505020204" pitchFamily="18" charset="0"/>
              </a:rPr>
              <a:t> </a:t>
            </a:r>
            <a:r>
              <a:rPr lang="bg-BG" sz="3600" dirty="0" smtClean="0">
                <a:latin typeface="Bookman Old Style" panose="02050604050505020204" pitchFamily="18" charset="0"/>
              </a:rPr>
              <a:t>основа</a:t>
            </a:r>
            <a:endParaRPr lang="bg-BG" sz="3600" dirty="0">
              <a:latin typeface="Bookman Old Style" panose="02050604050505020204" pitchFamily="18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455530" y="1983436"/>
            <a:ext cx="6974057" cy="464937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5794836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33800" y="-1126994"/>
            <a:ext cx="5581650" cy="4601183"/>
          </a:xfrm>
        </p:spPr>
        <p:txBody>
          <a:bodyPr/>
          <a:lstStyle/>
          <a:p>
            <a:r>
              <a:rPr lang="bg-BG" sz="3600" dirty="0" smtClean="0">
                <a:latin typeface="Bookman Old Style" panose="02050604050505020204" pitchFamily="18" charset="0"/>
              </a:rPr>
              <a:t>Архитектура</a:t>
            </a:r>
            <a:endParaRPr lang="bg-BG" sz="3600" dirty="0">
              <a:latin typeface="Bookman Old Style" panose="02050604050505020204" pitchFamily="18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580550" y="2213292"/>
            <a:ext cx="7535250" cy="42068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Rectangle 2"/>
          <p:cNvSpPr/>
          <p:nvPr/>
        </p:nvSpPr>
        <p:spPr>
          <a:xfrm>
            <a:off x="533400" y="2547014"/>
            <a:ext cx="3429000" cy="35394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b="1" dirty="0"/>
              <a:t>Системата е изградена по клиент-сървър модел с REST API комуникация между frontend и backend чрез HTTP заявки и JSON формат</a:t>
            </a:r>
            <a:endParaRPr lang="bg-BG" sz="2800" b="1" dirty="0"/>
          </a:p>
        </p:txBody>
      </p:sp>
    </p:spTree>
    <p:extLst>
      <p:ext uri="{BB962C8B-B14F-4D97-AF65-F5344CB8AC3E}">
        <p14:creationId xmlns:p14="http://schemas.microsoft.com/office/powerpoint/2010/main" val="27326528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dirty="0" smtClean="0">
                <a:latin typeface="Bookman Old Style" panose="02050604050505020204" pitchFamily="18" charset="0"/>
              </a:rPr>
              <a:t>Използвани </a:t>
            </a:r>
            <a:r>
              <a:rPr lang="bg-BG" sz="3600" dirty="0" smtClean="0">
                <a:latin typeface="Bookman Old Style" panose="02050604050505020204" pitchFamily="18" charset="0"/>
              </a:rPr>
              <a:t>технологии</a:t>
            </a:r>
            <a:endParaRPr lang="bg-BG" sz="3600" dirty="0">
              <a:latin typeface="Bookman Old Style" panose="02050604050505020204" pitchFamily="18" charset="0"/>
            </a:endParaRP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07560" y="2011363"/>
            <a:ext cx="4206875" cy="420687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6559" y="1576753"/>
            <a:ext cx="4876800" cy="24384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3359" y="2985278"/>
            <a:ext cx="3306201" cy="183677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8429" y="4474633"/>
            <a:ext cx="6912111" cy="1962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4434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56936" y="-1042588"/>
            <a:ext cx="8068114" cy="4601183"/>
          </a:xfrm>
        </p:spPr>
        <p:txBody>
          <a:bodyPr>
            <a:normAutofit/>
          </a:bodyPr>
          <a:lstStyle/>
          <a:p>
            <a:pPr algn="ctr"/>
            <a:r>
              <a:rPr lang="bg-BG" sz="3600" dirty="0" smtClean="0">
                <a:latin typeface="Bookman Old Style" panose="02050604050505020204" pitchFamily="18" charset="0"/>
              </a:rPr>
              <a:t>Функционалности</a:t>
            </a:r>
            <a:endParaRPr lang="bg-BG" sz="3600" dirty="0">
              <a:latin typeface="Bookman Old Style" panose="02050604050505020204" pitchFamily="18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49494" y="2670502"/>
            <a:ext cx="5176056" cy="345070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TextBox 2"/>
          <p:cNvSpPr txBox="1"/>
          <p:nvPr/>
        </p:nvSpPr>
        <p:spPr>
          <a:xfrm>
            <a:off x="6274484" y="3060030"/>
            <a:ext cx="483166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/>
              <a:t>-</a:t>
            </a:r>
            <a:r>
              <a:rPr lang="bg-BG" sz="2400" b="1" dirty="0" smtClean="0"/>
              <a:t>добавяне</a:t>
            </a:r>
          </a:p>
          <a:p>
            <a:r>
              <a:rPr lang="bg-BG" sz="2400" b="1" dirty="0" smtClean="0"/>
              <a:t>-редактиране</a:t>
            </a:r>
          </a:p>
          <a:p>
            <a:r>
              <a:rPr lang="bg-BG" sz="2400" b="1" dirty="0" smtClean="0"/>
              <a:t>-изтриване на компрютри</a:t>
            </a:r>
          </a:p>
          <a:p>
            <a:r>
              <a:rPr lang="bg-BG" sz="2400" b="1" dirty="0" smtClean="0"/>
              <a:t>-</a:t>
            </a:r>
            <a:r>
              <a:rPr lang="ru-RU" sz="2400" b="1" dirty="0"/>
              <a:t>изпраща WOL команди и да включва устройства дистанционно</a:t>
            </a:r>
            <a:endParaRPr lang="bg-BG" sz="2400" b="1" dirty="0"/>
          </a:p>
        </p:txBody>
      </p:sp>
    </p:spTree>
    <p:extLst>
      <p:ext uri="{BB962C8B-B14F-4D97-AF65-F5344CB8AC3E}">
        <p14:creationId xmlns:p14="http://schemas.microsoft.com/office/powerpoint/2010/main" val="31474790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599" y="284176"/>
            <a:ext cx="7329399" cy="1508760"/>
          </a:xfrm>
        </p:spPr>
        <p:txBody>
          <a:bodyPr/>
          <a:lstStyle/>
          <a:p>
            <a:r>
              <a:rPr lang="bg-BG" sz="3600" dirty="0" smtClean="0">
                <a:latin typeface="Bookman Old Style" panose="02050604050505020204" pitchFamily="18" charset="0"/>
              </a:rPr>
              <a:t>Заключение</a:t>
            </a:r>
            <a:endParaRPr lang="bg-BG" sz="3600" dirty="0">
              <a:latin typeface="Bookman Old Style" panose="02050604050505020204" pitchFamily="18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447779" y="1975816"/>
            <a:ext cx="6922660" cy="45577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9423071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2038350" y="3643532"/>
            <a:ext cx="9982199" cy="731520"/>
          </a:xfrm>
        </p:spPr>
        <p:txBody>
          <a:bodyPr>
            <a:normAutofit/>
          </a:bodyPr>
          <a:lstStyle/>
          <a:p>
            <a:r>
              <a:rPr lang="bg-BG" sz="3600" dirty="0" smtClean="0">
                <a:latin typeface="Bookman Old Style" panose="02050604050505020204" pitchFamily="18" charset="0"/>
              </a:rPr>
              <a:t>Благодаря Ви за вниманието</a:t>
            </a:r>
            <a:endParaRPr lang="bg-BG" sz="36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408438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anded">
  <a:themeElements>
    <a:clrScheme name="Banded">
      <a:dk1>
        <a:srgbClr val="2C2C2C"/>
      </a:dk1>
      <a:lt1>
        <a:srgbClr val="FFFFFF"/>
      </a:lt1>
      <a:dk2>
        <a:srgbClr val="099BDD"/>
      </a:dk2>
      <a:lt2>
        <a:srgbClr val="F2F2F2"/>
      </a:lt2>
      <a:accent1>
        <a:srgbClr val="FFC000"/>
      </a:accent1>
      <a:accent2>
        <a:srgbClr val="A5D028"/>
      </a:accent2>
      <a:accent3>
        <a:srgbClr val="08CC78"/>
      </a:accent3>
      <a:accent4>
        <a:srgbClr val="F24099"/>
      </a:accent4>
      <a:accent5>
        <a:srgbClr val="828288"/>
      </a:accent5>
      <a:accent6>
        <a:srgbClr val="F56617"/>
      </a:accent6>
      <a:hlink>
        <a:srgbClr val="005DBA"/>
      </a:hlink>
      <a:folHlink>
        <a:srgbClr val="6C606A"/>
      </a:folHlink>
    </a:clrScheme>
    <a:fontScheme name="Banded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nded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TM03090430[[fn=Banded]]</Template>
  <TotalTime>289</TotalTime>
  <Words>560</Words>
  <Application>Microsoft Office PowerPoint</Application>
  <PresentationFormat>Widescreen</PresentationFormat>
  <Paragraphs>45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Arial</vt:lpstr>
      <vt:lpstr>Bookman Old Style</vt:lpstr>
      <vt:lpstr>Calibri</vt:lpstr>
      <vt:lpstr>Corbel</vt:lpstr>
      <vt:lpstr>Sitka Display</vt:lpstr>
      <vt:lpstr>Wingdings</vt:lpstr>
      <vt:lpstr>Banded</vt:lpstr>
      <vt:lpstr>Тема:Wake on Lan сървър</vt:lpstr>
      <vt:lpstr>Актуалност</vt:lpstr>
      <vt:lpstr>Цел на проекта</vt:lpstr>
      <vt:lpstr>Основни задачи</vt:lpstr>
      <vt:lpstr>Теоретична основа</vt:lpstr>
      <vt:lpstr>Архитектура</vt:lpstr>
      <vt:lpstr>Използвани технологии</vt:lpstr>
      <vt:lpstr>Функционалности</vt:lpstr>
      <vt:lpstr>Заключение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Wake-on-LAN сървър</dc:title>
  <dc:creator>Admin</dc:creator>
  <cp:lastModifiedBy>Admin</cp:lastModifiedBy>
  <cp:revision>25</cp:revision>
  <dcterms:created xsi:type="dcterms:W3CDTF">2026-04-27T08:29:36Z</dcterms:created>
  <dcterms:modified xsi:type="dcterms:W3CDTF">2026-05-07T06:27:25Z</dcterms:modified>
</cp:coreProperties>
</file>