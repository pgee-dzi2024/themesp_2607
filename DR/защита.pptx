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098" autoAdjust="0"/>
  </p:normalViewPr>
  <p:slideViewPr>
    <p:cSldViewPr snapToGrid="0">
      <p:cViewPr varScale="1">
        <p:scale>
          <a:sx n="62" d="100"/>
          <a:sy n="62" d="100"/>
        </p:scale>
        <p:origin x="243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E4611-7BA2-4738-94C6-98FE40ED41FA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11EA6-982B-47BF-89C8-7B0CF804A74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506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:</a:t>
            </a:r>
            <a:r>
              <a:rPr lang="ru-RU" sz="5400" b="0" dirty="0" smtClean="0"/>
              <a:t>Уважаема г-жо Директор,</a:t>
            </a:r>
          </a:p>
          <a:p>
            <a:r>
              <a:rPr lang="ru-RU" sz="5400" b="0" dirty="0" smtClean="0"/>
              <a:t>Уважаема комисия,</a:t>
            </a:r>
          </a:p>
          <a:p>
            <a:r>
              <a:rPr lang="ru-RU" sz="5400" b="0" dirty="0" smtClean="0"/>
              <a:t>Казвам се Фериз Ходжа и ще ви представя моя дипломен проект на тема:</a:t>
            </a:r>
          </a:p>
          <a:p>
            <a:r>
              <a:rPr lang="ru-RU" sz="5400" b="0" dirty="0" smtClean="0"/>
              <a:t>Wake on lan сървър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369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„В днешно време компютърните мрежи са основна част от работата на всяка организация. Често се налага управление на множество компютри, което изисква време и физическо присъствие. Именно затова възниква нуждата от решения за дистанционно управление. Моят проект е насочен към автоматизиране на този процес, като позволява включване на компютри от разстояние.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2497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„Основната цел на дипломния проект е да се разработи уеб-базирана система за дистанционно включване на компютри чрез технологията Wake-on-LAN. Системата позволява централизирано управление и улеснява администраторите. Чрез изпращане на  Magic Packet, компютрите могат да бъдат включени без физически достъп до тях.“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2936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„За реализирането на проекта бяха изпълнени няколко основни задачи. Първо направих анализ на технологиите и принципите на работа на Wake-on-LAN. След това избрах подходящи инструменти за разработка. Проектирах базата данни, разработих backend и frontend частта, и накрая тествах системата, за да се уверя, че работи надеждно.“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24503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„Проектът се базира на основни знания за компютърни мрежи. Използват се моделите OSI и TCP/IP, които описват комуникацията между устройствата. Важна роля играе UDP протоколът, защото позволява бързо изпращане на данни без установяване на връзка. Това го прави подходящ за изпращане на WOL пакети.“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3958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„Системата е изградена на базата на клиент-сървър архитектура. </a:t>
            </a:r>
            <a:r>
              <a:rPr lang="en-US" dirty="0" smtClean="0"/>
              <a:t>Backend </a:t>
            </a:r>
            <a:r>
              <a:rPr lang="bg-BG" dirty="0" smtClean="0"/>
              <a:t>частта обработва заявките и управлява логиката, а </a:t>
            </a:r>
            <a:r>
              <a:rPr lang="en-US" dirty="0" smtClean="0"/>
              <a:t>frontend </a:t>
            </a:r>
            <a:r>
              <a:rPr lang="bg-BG" dirty="0" smtClean="0"/>
              <a:t>частта осигурява потребителския интерфейс. Комуникацията между тях се осъществява чрез </a:t>
            </a:r>
            <a:r>
              <a:rPr lang="en-US" dirty="0" smtClean="0"/>
              <a:t>REST API </a:t>
            </a:r>
            <a:r>
              <a:rPr lang="bg-BG" dirty="0" smtClean="0"/>
              <a:t>и </a:t>
            </a:r>
            <a:r>
              <a:rPr lang="en-US" dirty="0" smtClean="0"/>
              <a:t>JSON </a:t>
            </a:r>
            <a:r>
              <a:rPr lang="bg-BG" dirty="0" smtClean="0"/>
              <a:t>формат. Това позволява лесна поддръжка и разширяване.“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099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„За разработката използвах </a:t>
            </a:r>
            <a:r>
              <a:rPr lang="en-US" dirty="0" smtClean="0"/>
              <a:t>Python </a:t>
            </a:r>
            <a:r>
              <a:rPr lang="bg-BG" dirty="0" smtClean="0"/>
              <a:t>и </a:t>
            </a:r>
            <a:r>
              <a:rPr lang="en-US" dirty="0" smtClean="0"/>
              <a:t>Django </a:t>
            </a:r>
            <a:r>
              <a:rPr lang="bg-BG" dirty="0" smtClean="0"/>
              <a:t>за </a:t>
            </a:r>
            <a:r>
              <a:rPr lang="en-US" dirty="0" smtClean="0"/>
              <a:t>backend </a:t>
            </a:r>
            <a:r>
              <a:rPr lang="bg-BG" dirty="0" smtClean="0"/>
              <a:t>частта, като добавих </a:t>
            </a:r>
            <a:r>
              <a:rPr lang="en-US" dirty="0" smtClean="0"/>
              <a:t>Django REST Framework </a:t>
            </a:r>
            <a:r>
              <a:rPr lang="bg-BG" dirty="0" smtClean="0"/>
              <a:t>за създаване на </a:t>
            </a:r>
            <a:r>
              <a:rPr lang="en-US" dirty="0" smtClean="0"/>
              <a:t>API. </a:t>
            </a:r>
            <a:r>
              <a:rPr lang="bg-BG" dirty="0" smtClean="0"/>
              <a:t>За </a:t>
            </a:r>
            <a:r>
              <a:rPr lang="en-US" dirty="0" smtClean="0"/>
              <a:t>frontend </a:t>
            </a:r>
            <a:r>
              <a:rPr lang="bg-BG" dirty="0" smtClean="0"/>
              <a:t>използвах </a:t>
            </a:r>
            <a:r>
              <a:rPr lang="en-US" dirty="0" smtClean="0"/>
              <a:t>Vue.js </a:t>
            </a:r>
            <a:r>
              <a:rPr lang="bg-BG" dirty="0" smtClean="0"/>
              <a:t>и </a:t>
            </a:r>
            <a:r>
              <a:rPr lang="en-US" dirty="0" smtClean="0"/>
              <a:t>Bootstrap, </a:t>
            </a:r>
            <a:r>
              <a:rPr lang="bg-BG" dirty="0" smtClean="0"/>
              <a:t>което позволява създаване на модерен и удобен интерфейс. За база данни използвах </a:t>
            </a:r>
            <a:r>
              <a:rPr lang="en-US" dirty="0" err="1" smtClean="0"/>
              <a:t>MariaDB</a:t>
            </a:r>
            <a:r>
              <a:rPr lang="en-US" dirty="0" smtClean="0"/>
              <a:t>, </a:t>
            </a:r>
            <a:r>
              <a:rPr lang="bg-BG" dirty="0" smtClean="0"/>
              <a:t>която е надеждна и широко използвана.“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154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„Системата позволява добавяне, редактиране и изтриване на компютри. Потребителят може да изпраща WOL команди и да включва устройства дистанционно. Освен това се поддържа лог на всички действия. Интерфейсът е реализиран като Single Page Application, което го прави бърз и удобен за използване.“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17048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„В заключение, проектът успешно реализира поставената цел. Системата работи стабилно и има реално приложение. В бъдеще може да бъде разширена с функции като автоматично включване по график, въвеждане на потребителски роли и поддръжка на Wake-on-WAN. Това я прави добра основа за по-нататъшно развитие.“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11EA6-982B-47BF-89C8-7B0CF804A74C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023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8890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3282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478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4205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304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3217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0159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5926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771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95896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76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FCAA85D-A80E-45D6-AD8D-1520FADD59BE}" type="datetimeFigureOut">
              <a:rPr lang="bg-BG" smtClean="0"/>
              <a:t>11.5.2026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7004B8A-7D95-4061-8393-5B64690FED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8997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891" y="1468082"/>
            <a:ext cx="8439913" cy="537190"/>
          </a:xfrm>
        </p:spPr>
        <p:txBody>
          <a:bodyPr>
            <a:noAutofit/>
          </a:bodyPr>
          <a:lstStyle/>
          <a:p>
            <a:r>
              <a:rPr lang="bg-BG" sz="4000" dirty="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Тема</a:t>
            </a:r>
            <a:r>
              <a:rPr lang="en-US" sz="360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:Wake</a:t>
            </a:r>
            <a:r>
              <a:rPr lang="en-US" sz="400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400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on-Lan</a:t>
            </a:r>
            <a:r>
              <a:rPr lang="bg-BG" sz="4000" dirty="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4000" dirty="0" smtClean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сървър</a:t>
            </a:r>
            <a:endParaRPr lang="bg-BG" sz="4000" dirty="0">
              <a:solidFill>
                <a:schemeClr val="tx2"/>
              </a:solidFill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3985" y="6337692"/>
            <a:ext cx="3910819" cy="520308"/>
          </a:xfrm>
        </p:spPr>
        <p:txBody>
          <a:bodyPr>
            <a:normAutofit/>
          </a:bodyPr>
          <a:lstStyle/>
          <a:p>
            <a:r>
              <a:rPr lang="bg-BG" dirty="0" smtClean="0">
                <a:latin typeface="Bookman Old Style" panose="02050604050505020204" pitchFamily="18" charset="0"/>
              </a:rPr>
              <a:t>Дипломант</a:t>
            </a:r>
            <a:r>
              <a:rPr lang="en-US" dirty="0" smtClean="0">
                <a:latin typeface="Bookman Old Style" panose="02050604050505020204" pitchFamily="18" charset="0"/>
              </a:rPr>
              <a:t>: </a:t>
            </a:r>
            <a:r>
              <a:rPr lang="bg-BG" dirty="0" smtClean="0">
                <a:latin typeface="Bookman Old Style" panose="02050604050505020204" pitchFamily="18" charset="0"/>
              </a:rPr>
              <a:t>Фериз Ходжа</a:t>
            </a:r>
            <a:endParaRPr lang="bg-BG" dirty="0">
              <a:latin typeface="Bookman Old Style" panose="0205060405050502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90" t="23313" r="-290" b="-26583"/>
          <a:stretch/>
        </p:blipFill>
        <p:spPr>
          <a:xfrm>
            <a:off x="308785" y="2600511"/>
            <a:ext cx="7315200" cy="5369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85" y="175582"/>
            <a:ext cx="801332" cy="9357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0117" y="175582"/>
            <a:ext cx="71757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>
                <a:latin typeface="Sitka Display" pitchFamily="2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endParaRPr lang="bg-BG" b="1" i="1" dirty="0">
              <a:latin typeface="Sitka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092" y="-1155130"/>
            <a:ext cx="4262811" cy="4601183"/>
          </a:xfrm>
        </p:spPr>
        <p:txBody>
          <a:bodyPr/>
          <a:lstStyle/>
          <a:p>
            <a:r>
              <a:rPr lang="bg-BG" sz="3600" dirty="0" smtClean="0">
                <a:latin typeface="Bookman Old Style" panose="02050604050505020204" pitchFamily="18" charset="0"/>
              </a:rPr>
              <a:t>Актуалност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72022" y="1926957"/>
            <a:ext cx="5584347" cy="420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168812" y="3245564"/>
            <a:ext cx="5753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Управлението </a:t>
            </a:r>
            <a:r>
              <a:rPr lang="ru-RU" sz="2400" b="1" dirty="0"/>
              <a:t>на множество </a:t>
            </a:r>
            <a:r>
              <a:rPr lang="ru-RU" sz="2400" b="1" dirty="0" smtClean="0"/>
              <a:t>компютри: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smtClean="0"/>
              <a:t> </a:t>
            </a:r>
            <a:r>
              <a:rPr lang="ru-RU" sz="2400" b="1" dirty="0"/>
              <a:t>изисква време и физическо присъствие</a:t>
            </a:r>
            <a:endParaRPr lang="bg-BG" sz="2400" b="1" dirty="0"/>
          </a:p>
        </p:txBody>
      </p:sp>
    </p:spTree>
    <p:extLst>
      <p:ext uri="{BB962C8B-B14F-4D97-AF65-F5344CB8AC3E}">
        <p14:creationId xmlns:p14="http://schemas.microsoft.com/office/powerpoint/2010/main" val="20665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9848" y="-1098860"/>
            <a:ext cx="6077542" cy="4601183"/>
          </a:xfrm>
        </p:spPr>
        <p:txBody>
          <a:bodyPr/>
          <a:lstStyle/>
          <a:p>
            <a:pPr algn="ctr"/>
            <a:r>
              <a:rPr lang="bg-BG" dirty="0" smtClean="0">
                <a:latin typeface="Bookman Old Style" panose="02050604050505020204" pitchFamily="18" charset="0"/>
              </a:rPr>
              <a:t>Цел на </a:t>
            </a:r>
            <a:r>
              <a:rPr lang="bg-BG" sz="3600" dirty="0" smtClean="0">
                <a:latin typeface="Bookman Old Style" panose="02050604050505020204" pitchFamily="18" charset="0"/>
              </a:rPr>
              <a:t>проекта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90881" y="2039498"/>
            <a:ext cx="6310312" cy="420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/>
          <p:cNvSpPr txBox="1"/>
          <p:nvPr/>
        </p:nvSpPr>
        <p:spPr>
          <a:xfrm>
            <a:off x="745389" y="2619441"/>
            <a:ext cx="33199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Д</a:t>
            </a:r>
            <a:r>
              <a:rPr lang="ru-RU" sz="2400" b="1" dirty="0" smtClean="0"/>
              <a:t>а </a:t>
            </a:r>
            <a:r>
              <a:rPr lang="ru-RU" sz="2400" b="1" dirty="0"/>
              <a:t>се разработи уеб-базирана система за дистанционно включване на компютри чрез технологията Wake-on-LAN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9201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600" dirty="0" smtClean="0">
                <a:latin typeface="Bookman Old Style" panose="02050604050505020204" pitchFamily="18" charset="0"/>
              </a:rPr>
              <a:t>Основни</a:t>
            </a:r>
            <a:r>
              <a:rPr lang="bg-BG" dirty="0" smtClean="0">
                <a:latin typeface="Bookman Old Style" panose="02050604050505020204" pitchFamily="18" charset="0"/>
              </a:rPr>
              <a:t> задачи</a:t>
            </a:r>
            <a:endParaRPr lang="bg-BG" dirty="0"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57402" y="2887231"/>
            <a:ext cx="42765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анализ на технологиите и принципите на работа на </a:t>
            </a:r>
            <a:r>
              <a:rPr lang="ru-RU" sz="2000" b="1" dirty="0" smtClean="0"/>
              <a:t>Wake-on-LAN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/>
              <a:t>подходящи </a:t>
            </a:r>
            <a:r>
              <a:rPr lang="ru-RU" sz="2000" b="1" dirty="0"/>
              <a:t>инструменти за </a:t>
            </a:r>
            <a:r>
              <a:rPr lang="ru-RU" sz="2000" b="1" dirty="0" smtClean="0"/>
              <a:t>   разработка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б</a:t>
            </a:r>
            <a:r>
              <a:rPr lang="ru-RU" sz="2000" b="1" dirty="0" smtClean="0"/>
              <a:t>аза данни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backend </a:t>
            </a:r>
            <a:r>
              <a:rPr lang="ru-RU" sz="2000" b="1" dirty="0"/>
              <a:t>и </a:t>
            </a:r>
            <a:r>
              <a:rPr lang="en-US" sz="2000" b="1" dirty="0"/>
              <a:t>frontend </a:t>
            </a:r>
            <a:endParaRPr lang="ru-RU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sz="20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0225" y="2214954"/>
            <a:ext cx="6310312" cy="420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187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969" y="320702"/>
            <a:ext cx="9784080" cy="1508760"/>
          </a:xfrm>
        </p:spPr>
        <p:txBody>
          <a:bodyPr/>
          <a:lstStyle/>
          <a:p>
            <a:pPr algn="ctr"/>
            <a:r>
              <a:rPr lang="bg-BG" sz="3600" dirty="0" smtClean="0">
                <a:latin typeface="Bookman Old Style" panose="02050604050505020204" pitchFamily="18" charset="0"/>
              </a:rPr>
              <a:t>Теоретична</a:t>
            </a:r>
            <a:r>
              <a:rPr lang="bg-BG" dirty="0" smtClean="0">
                <a:latin typeface="Bookman Old Style" panose="02050604050505020204" pitchFamily="18" charset="0"/>
              </a:rPr>
              <a:t> </a:t>
            </a:r>
            <a:r>
              <a:rPr lang="bg-BG" sz="3600" dirty="0" smtClean="0">
                <a:latin typeface="Bookman Old Style" panose="02050604050505020204" pitchFamily="18" charset="0"/>
              </a:rPr>
              <a:t>основа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5530" y="1983436"/>
            <a:ext cx="6974057" cy="4649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948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-1126994"/>
            <a:ext cx="5581650" cy="4601183"/>
          </a:xfrm>
        </p:spPr>
        <p:txBody>
          <a:bodyPr/>
          <a:lstStyle/>
          <a:p>
            <a:r>
              <a:rPr lang="bg-BG" sz="3600" dirty="0" smtClean="0">
                <a:latin typeface="Bookman Old Style" panose="02050604050505020204" pitchFamily="18" charset="0"/>
              </a:rPr>
              <a:t>Архитектура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80550" y="2213292"/>
            <a:ext cx="7535250" cy="420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533400" y="2547014"/>
            <a:ext cx="3429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Системата е изградена по клиент-сървър модел с REST API комуникация между frontend и backend чрез HTTP заявки и JSON формат</a:t>
            </a:r>
            <a:endParaRPr lang="bg-BG" sz="2800" b="1" dirty="0"/>
          </a:p>
        </p:txBody>
      </p:sp>
    </p:spTree>
    <p:extLst>
      <p:ext uri="{BB962C8B-B14F-4D97-AF65-F5344CB8AC3E}">
        <p14:creationId xmlns:p14="http://schemas.microsoft.com/office/powerpoint/2010/main" val="273265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>
                <a:latin typeface="Bookman Old Style" panose="02050604050505020204" pitchFamily="18" charset="0"/>
              </a:rPr>
              <a:t>Използвани </a:t>
            </a:r>
            <a:r>
              <a:rPr lang="bg-BG" sz="3600" dirty="0" smtClean="0">
                <a:latin typeface="Bookman Old Style" panose="02050604050505020204" pitchFamily="18" charset="0"/>
              </a:rPr>
              <a:t>технологии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560" y="2011363"/>
            <a:ext cx="4206875" cy="4206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559" y="1576753"/>
            <a:ext cx="4876800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359" y="3085513"/>
            <a:ext cx="3306201" cy="1836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888" y="4528438"/>
            <a:ext cx="6912111" cy="196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936" y="-1042588"/>
            <a:ext cx="8068114" cy="4601183"/>
          </a:xfrm>
        </p:spPr>
        <p:txBody>
          <a:bodyPr>
            <a:normAutofit/>
          </a:bodyPr>
          <a:lstStyle/>
          <a:p>
            <a:pPr algn="ctr"/>
            <a:r>
              <a:rPr lang="bg-BG" sz="3600" dirty="0" smtClean="0">
                <a:latin typeface="Bookman Old Style" panose="02050604050505020204" pitchFamily="18" charset="0"/>
              </a:rPr>
              <a:t>Функционалности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494" y="2670502"/>
            <a:ext cx="5176056" cy="3450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/>
          <p:cNvSpPr txBox="1"/>
          <p:nvPr/>
        </p:nvSpPr>
        <p:spPr>
          <a:xfrm>
            <a:off x="6274484" y="3060030"/>
            <a:ext cx="48316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-</a:t>
            </a:r>
            <a:r>
              <a:rPr lang="bg-BG" sz="2400" b="1" dirty="0" smtClean="0"/>
              <a:t>добавяне</a:t>
            </a:r>
          </a:p>
          <a:p>
            <a:r>
              <a:rPr lang="bg-BG" sz="2400" b="1" dirty="0" smtClean="0"/>
              <a:t>-редактиране</a:t>
            </a:r>
          </a:p>
          <a:p>
            <a:r>
              <a:rPr lang="bg-BG" sz="2400" b="1" dirty="0" smtClean="0"/>
              <a:t>-изтриване на компрютри</a:t>
            </a:r>
          </a:p>
          <a:p>
            <a:r>
              <a:rPr lang="bg-BG" sz="2400" b="1" dirty="0" smtClean="0"/>
              <a:t>-</a:t>
            </a:r>
            <a:r>
              <a:rPr lang="ru-RU" sz="2400" b="1" dirty="0"/>
              <a:t>изпраща WOL команди и да включва устройства дистанционно</a:t>
            </a:r>
            <a:endParaRPr lang="bg-BG" sz="2400" b="1" dirty="0"/>
          </a:p>
        </p:txBody>
      </p:sp>
    </p:spTree>
    <p:extLst>
      <p:ext uri="{BB962C8B-B14F-4D97-AF65-F5344CB8AC3E}">
        <p14:creationId xmlns:p14="http://schemas.microsoft.com/office/powerpoint/2010/main" val="314747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9" y="284176"/>
            <a:ext cx="7329399" cy="1508760"/>
          </a:xfrm>
        </p:spPr>
        <p:txBody>
          <a:bodyPr/>
          <a:lstStyle/>
          <a:p>
            <a:r>
              <a:rPr lang="bg-BG" sz="3600" dirty="0" smtClean="0">
                <a:latin typeface="Bookman Old Style" panose="02050604050505020204" pitchFamily="18" charset="0"/>
              </a:rPr>
              <a:t>Заключение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7779" y="1975816"/>
            <a:ext cx="6922660" cy="4557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230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38350" y="3643532"/>
            <a:ext cx="9982199" cy="731520"/>
          </a:xfrm>
        </p:spPr>
        <p:txBody>
          <a:bodyPr>
            <a:normAutofit/>
          </a:bodyPr>
          <a:lstStyle/>
          <a:p>
            <a:r>
              <a:rPr lang="bg-BG" sz="3600" dirty="0" smtClean="0">
                <a:latin typeface="Bookman Old Style" panose="02050604050505020204" pitchFamily="18" charset="0"/>
              </a:rPr>
              <a:t>Благодаря Ви за вниманието</a:t>
            </a:r>
            <a:endParaRPr lang="bg-BG" sz="3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084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469</TotalTime>
  <Words>558</Words>
  <Application>Microsoft Office PowerPoint</Application>
  <PresentationFormat>Widescreen</PresentationFormat>
  <Paragraphs>45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Calibri</vt:lpstr>
      <vt:lpstr>Corbel</vt:lpstr>
      <vt:lpstr>Sitka Display</vt:lpstr>
      <vt:lpstr>Wingdings</vt:lpstr>
      <vt:lpstr>Banded</vt:lpstr>
      <vt:lpstr>Тема:Wake-on-Lan сървър</vt:lpstr>
      <vt:lpstr>Актуалност</vt:lpstr>
      <vt:lpstr>Цел на проекта</vt:lpstr>
      <vt:lpstr>Основни задачи</vt:lpstr>
      <vt:lpstr>Теоретична основа</vt:lpstr>
      <vt:lpstr>Архитектура</vt:lpstr>
      <vt:lpstr>Използвани технологии</vt:lpstr>
      <vt:lpstr>Функционалности</vt:lpstr>
      <vt:lpstr>Заключение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Wake-on-LAN сървър</dc:title>
  <dc:creator>Admin</dc:creator>
  <cp:lastModifiedBy>Admin</cp:lastModifiedBy>
  <cp:revision>29</cp:revision>
  <dcterms:created xsi:type="dcterms:W3CDTF">2026-04-27T08:29:36Z</dcterms:created>
  <dcterms:modified xsi:type="dcterms:W3CDTF">2026-05-11T08:30:22Z</dcterms:modified>
</cp:coreProperties>
</file>